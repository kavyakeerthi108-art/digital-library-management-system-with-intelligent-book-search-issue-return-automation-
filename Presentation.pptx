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Kanit Light" pitchFamily="2" charset="-34"/>
      <p:regular r:id="rId13"/>
    </p:embeddedFont>
    <p:embeddedFont>
      <p:font typeface="Martel Sans" pitchFamily="2" charset="77"/>
      <p:regular r:id="rId14"/>
    </p:embeddedFont>
    <p:embeddedFont>
      <p:font typeface="Martel Sans Bold" pitchFamily="2" charset="77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952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21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Digital Library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2021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Intelligent Book Search · Issue-Return Automation · Fine Calculation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06502"/>
            <a:ext cx="2161729" cy="215354"/>
          </a:xfrm>
          <a:prstGeom prst="roundRect">
            <a:avLst>
              <a:gd name="adj" fmla="val 22119"/>
            </a:avLst>
          </a:pr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248992"/>
            <a:ext cx="244881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ACADEMIC PROJECT PRESENTATION</a:t>
            </a:r>
            <a:endParaRPr lang="en-US" sz="8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30316-CA4D-0256-A538-00D18FA69B71}"/>
              </a:ext>
            </a:extLst>
          </p:cNvPr>
          <p:cNvSpPr txBox="1"/>
          <p:nvPr/>
        </p:nvSpPr>
        <p:spPr>
          <a:xfrm>
            <a:off x="3917027" y="419025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ROWTHU KAVYA KEERTHI</a:t>
            </a: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323129512048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1081"/>
            <a:ext cx="4722763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Problem with Traditional Libraries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96119" y="1349499"/>
            <a:ext cx="5179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 collections grow, manual processes become unsustainable bottlenecks.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1648420"/>
            <a:ext cx="4722763" cy="687512"/>
          </a:xfrm>
          <a:prstGeom prst="roundRect">
            <a:avLst>
              <a:gd name="adj" fmla="val 7443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2697" y="1774999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Manual Records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2697" y="2028155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Paper-based tracking leads to errors, lost data, and slow lookups.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96119" y="2440558"/>
            <a:ext cx="4722763" cy="687512"/>
          </a:xfrm>
          <a:prstGeom prst="roundRect">
            <a:avLst>
              <a:gd name="adj" fmla="val 7443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2697" y="2567136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Inefficient Search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2697" y="2820293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digital catalog — members spend hours locating books.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3232696"/>
            <a:ext cx="4722763" cy="687512"/>
          </a:xfrm>
          <a:prstGeom prst="roundRect">
            <a:avLst>
              <a:gd name="adj" fmla="val 7443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2697" y="3359274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Delayed Updates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2697" y="3612431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Issue/return records lag behind real transactions, causing conflicts.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6119" y="4024833"/>
            <a:ext cx="4722763" cy="687512"/>
          </a:xfrm>
          <a:prstGeom prst="roundRect">
            <a:avLst>
              <a:gd name="adj" fmla="val 7443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2697" y="4151412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Manual Fines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2697" y="4404568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Hand-calculated overdue fines are error-prone and inconsistently applied.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67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Our Solution: A Unified Digital Platform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0233"/>
            <a:ext cx="5211589" cy="295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013" y="2106737"/>
            <a:ext cx="269155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</a:t>
            </a:r>
            <a:r>
              <a:rPr lang="en-US" sz="8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Digital Library Management System (DLMS)</a:t>
            </a: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replaces manual operations with a centralized, web-based platform — automating search, transactions, fines, and reporting.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028182"/>
            <a:ext cx="2668414" cy="7155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9429" y="4144342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Intelligent Search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69429" y="4347493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Keyword-indexed catalog with multi-field queries.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7756" y="4028182"/>
            <a:ext cx="2668414" cy="7155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11066" y="4144342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Automated Issue-Return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411066" y="4347493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transaction processing with instant record updates.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9393" y="4028182"/>
            <a:ext cx="2668488" cy="7155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52704" y="4144342"/>
            <a:ext cx="237901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 Fine Calculation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152704" y="4347493"/>
            <a:ext cx="237901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Policy-driven overdue fines computed automatically at return.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3210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 &amp; Core Modules</a:t>
            </a:r>
            <a:endParaRPr lang="en-US" sz="1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06202"/>
            <a:ext cx="8151763" cy="373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67310" y="1315724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Edge &amp; Presentation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67310" y="1605245"/>
            <a:ext cx="1987578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Web UI, member portal, admin panel, infra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2951" y="2541932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8908" y="2831453"/>
            <a:ext cx="1827290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MySQL, keyword index, transaction logs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7310" y="3175072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Services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67310" y="3464593"/>
            <a:ext cx="1987578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Search, transactions, fines, notifications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592985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DLMS follows a layered architecture separating concerns across presentation, application, data, and infrastructure tiers — enabling modular development, secure access, and horizontal scalability.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Intelligent Book Search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54258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It Works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2688729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Members search across </a:t>
            </a: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title, author, category, ISBN, and keywords</a:t>
            </a: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simultaneously. The system uses keyword indexing and inverted index structures to deliver sub-second results, even across tens of thousands of records.</a:t>
            </a:r>
            <a:endParaRPr lang="en-US" sz="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704255"/>
            <a:ext cx="3989412" cy="398941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84" y="4776825"/>
            <a:ext cx="106263" cy="1062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6430" y="4773290"/>
            <a:ext cx="245737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Enter search query → system tokenizes input</a:t>
            </a:r>
            <a:endParaRPr lang="en-US" sz="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4776825"/>
            <a:ext cx="106263" cy="1062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58394" y="4773290"/>
            <a:ext cx="245745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Matches against indexed fields in parallel</a:t>
            </a:r>
            <a:endParaRPr lang="en-US" sz="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6686" y="4776825"/>
            <a:ext cx="106263" cy="1062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90431" y="4773290"/>
            <a:ext cx="245737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Returns ranked results with availability status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153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Issue-Return Workflow Automation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05" y="1100956"/>
            <a:ext cx="7792715" cy="30549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2103" y="1250779"/>
            <a:ext cx="1426548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Member Requests Book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5133" y="1250779"/>
            <a:ext cx="1426548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Librarian Verifies &amp; Issues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5133" y="3547522"/>
            <a:ext cx="1426548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Member Returns Book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2103" y="3547522"/>
            <a:ext cx="1426548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Calculates Fines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310435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Every transaction is processed in real time. The system instantly updates book availability, records borrowing history, sets due dates, and triggers notifications — eliminating manual record-keeping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Automated Fine Calculation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5814"/>
            <a:ext cx="5209729" cy="29521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4510" y="1987302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Policy-Driven &amp; Accurate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64510" y="2226394"/>
            <a:ext cx="2688059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Fine calculation is fully automated based on configurable library policies. When a book is returned, the system compares the return date against the due date and applies the correct rate.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96119" y="4039865"/>
            <a:ext cx="8151763" cy="715119"/>
          </a:xfrm>
          <a:prstGeom prst="roundRect">
            <a:avLst>
              <a:gd name="adj" fmla="val 6115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0881" y="4044628"/>
            <a:ext cx="2714030" cy="705594"/>
          </a:xfrm>
          <a:custGeom>
            <a:avLst/>
            <a:gdLst/>
            <a:ahLst/>
            <a:cxnLst/>
            <a:rect l="l" t="t" r="r" b="b"/>
            <a:pathLst>
              <a:path w="2714030" h="705594">
                <a:moveTo>
                  <a:pt x="36439" y="0"/>
                </a:moveTo>
                <a:lnTo>
                  <a:pt x="2714030" y="0"/>
                </a:lnTo>
                <a:lnTo>
                  <a:pt x="2714030" y="705594"/>
                </a:lnTo>
                <a:lnTo>
                  <a:pt x="36439" y="705594"/>
                </a:lnTo>
                <a:arcTo wR="36439" hR="36439" stAng="5400000" swAng="5400000"/>
                <a:lnTo>
                  <a:pt x="0" y="36439"/>
                </a:lnTo>
                <a:arcTo wR="36439" hR="36439" stAng="10800000" swAng="5400000"/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8" name="Text 5"/>
          <p:cNvSpPr/>
          <p:nvPr/>
        </p:nvSpPr>
        <p:spPr>
          <a:xfrm>
            <a:off x="604986" y="4148733"/>
            <a:ext cx="250581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Grace Period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4986" y="4357241"/>
            <a:ext cx="250581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Optional grace days before fines accrue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14911" y="4044628"/>
            <a:ext cx="2714104" cy="705594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1" name="Shape 8"/>
          <p:cNvSpPr/>
          <p:nvPr/>
        </p:nvSpPr>
        <p:spPr>
          <a:xfrm>
            <a:off x="3214911" y="4044628"/>
            <a:ext cx="14288" cy="705594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12" name="Text 9"/>
          <p:cNvSpPr/>
          <p:nvPr/>
        </p:nvSpPr>
        <p:spPr>
          <a:xfrm>
            <a:off x="3319016" y="4148733"/>
            <a:ext cx="250589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Daily Rate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19016" y="4357241"/>
            <a:ext cx="2505894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Configurable per-day overdue charge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29015" y="4044628"/>
            <a:ext cx="2714104" cy="705594"/>
          </a:xfrm>
          <a:custGeom>
            <a:avLst/>
            <a:gdLst/>
            <a:ahLst/>
            <a:cxnLst/>
            <a:rect l="l" t="t" r="r" b="b"/>
            <a:pathLst>
              <a:path w="2714104" h="705594">
                <a:moveTo>
                  <a:pt x="0" y="0"/>
                </a:moveTo>
                <a:lnTo>
                  <a:pt x="2677665" y="0"/>
                </a:lnTo>
                <a:arcTo wR="36439" hR="36439" stAng="16200000" swAng="5400000"/>
                <a:lnTo>
                  <a:pt x="2714104" y="669155"/>
                </a:lnTo>
                <a:arcTo wR="36439" hR="36439" stAng="0" swAng="5400000"/>
                <a:lnTo>
                  <a:pt x="0" y="705594"/>
                </a:lnTo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15" name="Shape 12"/>
          <p:cNvSpPr/>
          <p:nvPr/>
        </p:nvSpPr>
        <p:spPr>
          <a:xfrm>
            <a:off x="5929015" y="4044628"/>
            <a:ext cx="14288" cy="705594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16" name="Text 13"/>
          <p:cNvSpPr/>
          <p:nvPr/>
        </p:nvSpPr>
        <p:spPr>
          <a:xfrm>
            <a:off x="6033120" y="4148733"/>
            <a:ext cx="250589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Capping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33120" y="4357241"/>
            <a:ext cx="250589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Maximum fine ceiling to prevent excessive charges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162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Features by User Role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58131"/>
            <a:ext cx="1143595" cy="706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24209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Library Members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48607"/>
            <a:ext cx="2599134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Search books by title, author, ISBN, or keyword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View real-time availability and borrow history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Receive due-date reminders and overdue alerts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Pay fines through integrated portal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358131"/>
            <a:ext cx="1143595" cy="7067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24209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Librarians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548607"/>
            <a:ext cx="2599134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Manage book inventory, new arrivals, and reservations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Process issue-return transactions instantly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Configure fine policies and membership rules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 overdue and circulation reports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358131"/>
            <a:ext cx="1143595" cy="7067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24209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Administrators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548607"/>
            <a:ext cx="2599134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Full system configuration and user management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Secure authentication and access control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Institution-wide reports and analytics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Backup, audit logs, and data integrity tools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453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Benefits &amp; Key Metrics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78793"/>
            <a:ext cx="3995365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~90%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496119" y="1788765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Faster Search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6119" y="2077120"/>
            <a:ext cx="39953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Keyword-indexed queries return results in seconds vs. manual lookup.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52442" y="1178793"/>
            <a:ext cx="3995440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4652442" y="1788765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Manual Fine Errors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52442" y="2077120"/>
            <a:ext cx="39954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calculation eliminates human miscalculation entirely.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6119" y="2824386"/>
            <a:ext cx="3995365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24/7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496119" y="3434358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Availability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119" y="3722712"/>
            <a:ext cx="39953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Web-based portal accessible round-the-clock for members and staff.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52442" y="2824386"/>
            <a:ext cx="3995440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100%</a:t>
            </a:r>
            <a:endParaRPr lang="en-US" sz="3500" dirty="0"/>
          </a:p>
        </p:txBody>
      </p:sp>
      <p:sp>
        <p:nvSpPr>
          <p:cNvPr id="13" name="Text 11"/>
          <p:cNvSpPr/>
          <p:nvPr/>
        </p:nvSpPr>
        <p:spPr>
          <a:xfrm>
            <a:off x="4652442" y="3434358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Updates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52442" y="3722712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Inventory and transaction records reflect live status instantly.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6119" y="4289822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DLMS reduces administrative workload, accelerates book discovery, and delivers a consistent, accurate experience for every stakeholder.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219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Road Ahead: Future Enhancements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13483"/>
            <a:ext cx="212601" cy="212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78" y="1919660"/>
            <a:ext cx="2244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Recommendations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50478" y="2226171"/>
            <a:ext cx="22447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Personalized book suggestions powered by machine learning.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913483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26793" y="1919660"/>
            <a:ext cx="2244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Barcode, QR &amp; RFID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626793" y="2226171"/>
            <a:ext cx="22447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check-in/out and real-time book tracking.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913483"/>
            <a:ext cx="212601" cy="2126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3107" y="1919660"/>
            <a:ext cx="2244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&amp; Mobile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403107" y="2226171"/>
            <a:ext cx="22447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Cloud deployment with a native mobile app for on-the-go access.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88097"/>
            <a:ext cx="212601" cy="2126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0478" y="2994273"/>
            <a:ext cx="2244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Voice &amp; E-Books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50478" y="3300785"/>
            <a:ext cx="22447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Voice-enabled search and integrated digital e-book lending.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2988097"/>
            <a:ext cx="212601" cy="21260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626793" y="2994273"/>
            <a:ext cx="2244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Predictive Analytics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626793" y="3300785"/>
            <a:ext cx="22447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Usage forecasting and advanced dashboards for data-driven decisions.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625</Words>
  <Application>Microsoft Macintosh PowerPoint</Application>
  <PresentationFormat>On-screen Show (16:9)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Martel Sans</vt:lpstr>
      <vt:lpstr>Arial</vt:lpstr>
      <vt:lpstr>Kanit Light</vt:lpstr>
      <vt:lpstr>Martel Sans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Lalam githa vamsiram</cp:lastModifiedBy>
  <cp:revision>4</cp:revision>
  <dcterms:created xsi:type="dcterms:W3CDTF">2026-07-28T05:15:02Z</dcterms:created>
  <dcterms:modified xsi:type="dcterms:W3CDTF">2026-08-07T04:50:12Z</dcterms:modified>
</cp:coreProperties>
</file>